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7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endParaRPr lang="en-GY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us_clothing</c:v>
                </c:pt>
                <c:pt idx="1">
                  <c:v>one_size</c:v>
                </c:pt>
                <c:pt idx="2">
                  <c:v>plus</c:v>
                </c:pt>
                <c:pt idx="3">
                  <c:v>standard</c:v>
                </c:pt>
                <c:pt idx="4">
                  <c:v>shoe_intl</c:v>
                </c:pt>
                <c:pt idx="5">
                  <c:v>missing</c:v>
                </c:pt>
                <c:pt idx="6">
                  <c:v>dimensions</c:v>
                </c:pt>
                <c:pt idx="7">
                  <c:v>shoe_us</c:v>
                </c:pt>
                <c:pt idx="8">
                  <c:v>bra</c:v>
                </c:pt>
                <c:pt idx="9">
                  <c:v>us_letter</c:v>
                </c:pt>
                <c:pt idx="10">
                  <c:v>unknown</c:v>
                </c:pt>
                <c:pt idx="11">
                  <c:v>kids</c:v>
                </c:pt>
                <c:pt idx="12">
                  <c:v>jeans</c:v>
                </c:pt>
                <c:pt idx="13">
                  <c:v>volume_length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60668</c:v>
                </c:pt>
                <c:pt idx="1">
                  <c:v>11787</c:v>
                </c:pt>
                <c:pt idx="2">
                  <c:v>7315</c:v>
                </c:pt>
                <c:pt idx="3">
                  <c:v>7055</c:v>
                </c:pt>
                <c:pt idx="4">
                  <c:v>6247</c:v>
                </c:pt>
                <c:pt idx="5">
                  <c:v>5494</c:v>
                </c:pt>
                <c:pt idx="6">
                  <c:v>2250</c:v>
                </c:pt>
                <c:pt idx="7">
                  <c:v>1252</c:v>
                </c:pt>
                <c:pt idx="8">
                  <c:v>368</c:v>
                </c:pt>
                <c:pt idx="9">
                  <c:v>271</c:v>
                </c:pt>
                <c:pt idx="10">
                  <c:v>219</c:v>
                </c:pt>
                <c:pt idx="11">
                  <c:v>139</c:v>
                </c:pt>
                <c:pt idx="12">
                  <c:v>85</c:v>
                </c:pt>
                <c:pt idx="13">
                  <c:v>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CA-468C-A12E-7B22C4E0B00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1295C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1295C"/>
                    </a:solidFill>
                    <a:latin typeface="Arial"/>
                  </a:defRPr>
                </a:pPr>
                <a:endParaRPr lang="en-GY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Repo setup &amp; LFS</c:v>
                </c:pt>
                <c:pt idx="1">
                  <c:v>Data ingestion &amp; config</c:v>
                </c:pt>
                <c:pt idx="2">
                  <c:v>Exploratory diagnostics</c:v>
                </c:pt>
                <c:pt idx="3">
                  <c:v>Cleaning pipeline (03_clean)</c:v>
                </c:pt>
                <c:pt idx="4">
                  <c:v>Size system classification</c:v>
                </c:pt>
                <c:pt idx="5">
                  <c:v>Imputation</c:v>
                </c:pt>
                <c:pt idx="6">
                  <c:v>Report &amp; presentation</c:v>
                </c:pt>
                <c:pt idx="7">
                  <c:v>Finalizing details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4</c:v>
                </c:pt>
                <c:pt idx="6">
                  <c:v>8</c:v>
                </c:pt>
                <c:pt idx="7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D14-4597-9F49-ED46208A56E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95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854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6304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SHEIN Data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Cleaning Assignment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Nicky Melville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Pipeline  |  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11</a:t>
            </a:r>
            <a:r>
              <a:rPr lang="en-US" sz="1400" baseline="30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589520" y="20116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688" y="2212848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Dataset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8580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" y="1691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SHEIN product scrape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(us.shein.com)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80560" y="118872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70916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size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709160" y="1691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~111,189 rows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raw columns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" y="292608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8580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580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XLSX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Scraped Feb 2023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480560" y="292608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70916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0916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name, </a:t>
            </a:r>
            <a:r>
              <a:rPr lang="en-US" sz="1500" dirty="0" err="1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</a:t>
            </a: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(stock keeping unit), price,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size, brand, description, images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Set Out to Do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64008" cy="10972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12344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reproducible data-quality pipeline in R that reads, validates, cleans, and prepares the SHEIN product dataset for missing-value imputation.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Scoped Variables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3017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920240" y="3017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identifier (primary key)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3337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920240" y="33375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 — parsed to numeric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name — mojibake cleaned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92024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description field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920240" y="42976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into 13+ size systems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" y="4617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920240" y="4617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as is, image URLs counted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Architecture</a:t>
            </a:r>
            <a:endParaRPr lang="en-US" sz="3200" dirty="0"/>
          </a:p>
        </p:txBody>
      </p:sp>
      <p:sp>
        <p:nvSpPr>
          <p:cNvPr id="24" name="Shape 21"/>
          <p:cNvSpPr/>
          <p:nvPr/>
        </p:nvSpPr>
        <p:spPr>
          <a:xfrm>
            <a:off x="457200" y="3383280"/>
            <a:ext cx="82296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40080" y="3474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shein_cleaned.csv  →  .sav / .dta / .xlsx / .rds  +  Word report  +  diagnostics workbook</a:t>
            </a:r>
            <a:endParaRPr lang="en-US" sz="130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4E493779-57B7-95E6-D828-12262741F0D8}"/>
              </a:ext>
            </a:extLst>
          </p:cNvPr>
          <p:cNvSpPr/>
          <p:nvPr/>
        </p:nvSpPr>
        <p:spPr>
          <a:xfrm>
            <a:off x="457200" y="1463040"/>
            <a:ext cx="1188720" cy="1463040"/>
          </a:xfrm>
          <a:prstGeom prst="rect">
            <a:avLst/>
          </a:prstGeom>
          <a:solidFill>
            <a:srgbClr val="64748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3">
            <a:extLst>
              <a:ext uri="{FF2B5EF4-FFF2-40B4-BE49-F238E27FC236}">
                <a16:creationId xmlns:a16="http://schemas.microsoft.com/office/drawing/2014/main" id="{9A7B0F2A-EA8D-1820-AF34-A219C3E774AD}"/>
              </a:ext>
            </a:extLst>
          </p:cNvPr>
          <p:cNvSpPr/>
          <p:nvPr/>
        </p:nvSpPr>
        <p:spPr>
          <a:xfrm>
            <a:off x="4572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</a:t>
            </a:r>
            <a:endParaRPr lang="en-US" sz="1400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596F8461-044B-30E0-F69C-CF7ECD6D20DC}"/>
              </a:ext>
            </a:extLst>
          </p:cNvPr>
          <p:cNvSpPr/>
          <p:nvPr/>
        </p:nvSpPr>
        <p:spPr>
          <a:xfrm>
            <a:off x="548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00_config.R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01_ingest.R</a:t>
            </a:r>
            <a:endParaRPr lang="en-US" sz="1000" dirty="0"/>
          </a:p>
        </p:txBody>
      </p:sp>
      <p:sp>
        <p:nvSpPr>
          <p:cNvPr id="29" name="Shape 5">
            <a:extLst>
              <a:ext uri="{FF2B5EF4-FFF2-40B4-BE49-F238E27FC236}">
                <a16:creationId xmlns:a16="http://schemas.microsoft.com/office/drawing/2014/main" id="{FB68A736-DA2E-2AD7-2501-EC9D616026D6}"/>
              </a:ext>
            </a:extLst>
          </p:cNvPr>
          <p:cNvSpPr/>
          <p:nvPr/>
        </p:nvSpPr>
        <p:spPr>
          <a:xfrm>
            <a:off x="16459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0E73A078-D8C4-93A3-FFCE-901A95A5FD99}"/>
              </a:ext>
            </a:extLst>
          </p:cNvPr>
          <p:cNvSpPr/>
          <p:nvPr/>
        </p:nvSpPr>
        <p:spPr>
          <a:xfrm>
            <a:off x="1828800" y="1463040"/>
            <a:ext cx="1188720" cy="146304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22679EC3-BC05-74DA-10AB-D1CB5FE10F58}"/>
              </a:ext>
            </a:extLst>
          </p:cNvPr>
          <p:cNvSpPr/>
          <p:nvPr/>
        </p:nvSpPr>
        <p:spPr>
          <a:xfrm>
            <a:off x="18288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DIAGNOSE</a:t>
            </a:r>
            <a:endParaRPr lang="en-US" sz="140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D1015E15-757B-ED40-8F90-83629106F799}"/>
              </a:ext>
            </a:extLst>
          </p:cNvPr>
          <p:cNvSpPr/>
          <p:nvPr/>
        </p:nvSpPr>
        <p:spPr>
          <a:xfrm>
            <a:off x="19202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02_diagnosis.R</a:t>
            </a:r>
            <a:endParaRPr lang="en-US" sz="100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B1BE4A02-339A-6BBD-3F20-A589D08A94CB}"/>
              </a:ext>
            </a:extLst>
          </p:cNvPr>
          <p:cNvSpPr/>
          <p:nvPr/>
        </p:nvSpPr>
        <p:spPr>
          <a:xfrm>
            <a:off x="30175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A7F92CE0-5595-FD3B-2EC2-4FAC634A7068}"/>
              </a:ext>
            </a:extLst>
          </p:cNvPr>
          <p:cNvSpPr/>
          <p:nvPr/>
        </p:nvSpPr>
        <p:spPr>
          <a:xfrm>
            <a:off x="3200400" y="1463040"/>
            <a:ext cx="1188720" cy="14630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36D736A4-40DF-F018-0485-5211786EB0F0}"/>
              </a:ext>
            </a:extLst>
          </p:cNvPr>
          <p:cNvSpPr/>
          <p:nvPr/>
        </p:nvSpPr>
        <p:spPr>
          <a:xfrm>
            <a:off x="32004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</a:t>
            </a:r>
            <a:endParaRPr lang="en-US" sz="1400" dirty="0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A64A084B-481F-4D38-1118-FF5A46CA94EA}"/>
              </a:ext>
            </a:extLst>
          </p:cNvPr>
          <p:cNvSpPr/>
          <p:nvPr/>
        </p:nvSpPr>
        <p:spPr>
          <a:xfrm>
            <a:off x="32918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03_clean.R</a:t>
            </a:r>
            <a:endParaRPr lang="en-US" sz="1000" dirty="0"/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3EB73890-F161-D6BD-6D86-C5AA8DDB9C64}"/>
              </a:ext>
            </a:extLst>
          </p:cNvPr>
          <p:cNvSpPr/>
          <p:nvPr/>
        </p:nvSpPr>
        <p:spPr>
          <a:xfrm>
            <a:off x="43891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7B5E0D6D-F117-2736-20F7-554CA983BAB2}"/>
              </a:ext>
            </a:extLst>
          </p:cNvPr>
          <p:cNvSpPr/>
          <p:nvPr/>
        </p:nvSpPr>
        <p:spPr>
          <a:xfrm>
            <a:off x="4572000" y="1463040"/>
            <a:ext cx="1188720" cy="1463040"/>
          </a:xfrm>
          <a:prstGeom prst="rect">
            <a:avLst/>
          </a:prstGeom>
          <a:solidFill>
            <a:srgbClr val="0EA5E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DB5527CB-12B4-5D30-9ACC-BDA5DE7565EF}"/>
              </a:ext>
            </a:extLst>
          </p:cNvPr>
          <p:cNvSpPr/>
          <p:nvPr/>
        </p:nvSpPr>
        <p:spPr>
          <a:xfrm>
            <a:off x="45720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IMPUTE</a:t>
            </a:r>
            <a:endParaRPr lang="en-US" sz="1400" dirty="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BDB7B5B7-5C18-F1A2-705B-B5796440DAA3}"/>
              </a:ext>
            </a:extLst>
          </p:cNvPr>
          <p:cNvSpPr/>
          <p:nvPr/>
        </p:nvSpPr>
        <p:spPr>
          <a:xfrm>
            <a:off x="46634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04_impute.R</a:t>
            </a:r>
            <a:endParaRPr lang="en-US" sz="10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EAFC33EF-804D-EFF4-A532-F3E60880731D}"/>
              </a:ext>
            </a:extLst>
          </p:cNvPr>
          <p:cNvSpPr/>
          <p:nvPr/>
        </p:nvSpPr>
        <p:spPr>
          <a:xfrm>
            <a:off x="57607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18">
            <a:extLst>
              <a:ext uri="{FF2B5EF4-FFF2-40B4-BE49-F238E27FC236}">
                <a16:creationId xmlns:a16="http://schemas.microsoft.com/office/drawing/2014/main" id="{9DB78780-0CBC-7990-0983-1BCE3F83737A}"/>
              </a:ext>
            </a:extLst>
          </p:cNvPr>
          <p:cNvSpPr/>
          <p:nvPr/>
        </p:nvSpPr>
        <p:spPr>
          <a:xfrm>
            <a:off x="5943600" y="1463040"/>
            <a:ext cx="1188720" cy="1463040"/>
          </a:xfrm>
          <a:prstGeom prst="rect">
            <a:avLst/>
          </a:prstGeom>
          <a:solidFill>
            <a:srgbClr val="21295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D88C8D78-4065-4444-6259-91BADAEDA687}"/>
              </a:ext>
            </a:extLst>
          </p:cNvPr>
          <p:cNvSpPr/>
          <p:nvPr/>
        </p:nvSpPr>
        <p:spPr>
          <a:xfrm>
            <a:off x="59436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EXPORT</a:t>
            </a:r>
            <a:endParaRPr lang="en-US" sz="1400" dirty="0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C0F3C600-A88B-9653-783A-33FA5A6671DF}"/>
              </a:ext>
            </a:extLst>
          </p:cNvPr>
          <p:cNvSpPr/>
          <p:nvPr/>
        </p:nvSpPr>
        <p:spPr>
          <a:xfrm>
            <a:off x="60350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05_export.R</a:t>
            </a:r>
            <a:endParaRPr lang="en-US" sz="1000" dirty="0"/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DF2EAB3F-4D5B-2E54-FF9E-B5AB6F758219}"/>
              </a:ext>
            </a:extLst>
          </p:cNvPr>
          <p:cNvSpPr/>
          <p:nvPr/>
        </p:nvSpPr>
        <p:spPr>
          <a:xfrm>
            <a:off x="71323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22">
            <a:extLst>
              <a:ext uri="{FF2B5EF4-FFF2-40B4-BE49-F238E27FC236}">
                <a16:creationId xmlns:a16="http://schemas.microsoft.com/office/drawing/2014/main" id="{E33A8609-8C84-0CD8-07C4-8840886C7630}"/>
              </a:ext>
            </a:extLst>
          </p:cNvPr>
          <p:cNvSpPr/>
          <p:nvPr/>
        </p:nvSpPr>
        <p:spPr>
          <a:xfrm>
            <a:off x="7315200" y="1463040"/>
            <a:ext cx="1188720" cy="1463040"/>
          </a:xfrm>
          <a:prstGeom prst="rect">
            <a:avLst/>
          </a:prstGeom>
          <a:solidFill>
            <a:srgbClr val="7C3AED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Text 23">
            <a:extLst>
              <a:ext uri="{FF2B5EF4-FFF2-40B4-BE49-F238E27FC236}">
                <a16:creationId xmlns:a16="http://schemas.microsoft.com/office/drawing/2014/main" id="{CB21308B-846E-5B8A-0FA3-9E9957AD01ED}"/>
              </a:ext>
            </a:extLst>
          </p:cNvPr>
          <p:cNvSpPr/>
          <p:nvPr/>
        </p:nvSpPr>
        <p:spPr>
          <a:xfrm>
            <a:off x="73152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</a:t>
            </a:r>
            <a:endParaRPr lang="en-US" sz="1400" dirty="0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8B249B76-0A69-CC62-5E78-DBB10B8392F3}"/>
              </a:ext>
            </a:extLst>
          </p:cNvPr>
          <p:cNvSpPr/>
          <p:nvPr/>
        </p:nvSpPr>
        <p:spPr>
          <a:xfrm>
            <a:off x="7406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06_report.Rmd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Data Quality Issues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1430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 from repeated scraping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463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~7.18% of raw rows are exact duplicates by SKU, (7,987/111,189)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87452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7200" y="187452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85800" y="1920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Mojibake in brand field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2240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Corrupted characters + category breadcrumbs appended after brand name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65176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85800" y="26974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is a serialised Python dict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85800" y="3017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as [{'Color':'Black'}, {'Material':'Fabric'}] — not directly usable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57200" y="342900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5800" y="3474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column encodes 13+ different systems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85800" y="37947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EU, shoe, bedding, kids, bra, petite, plus, jeans, etc. in one field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 </a:t>
            </a: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Cleaned It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011422"/>
              </p:ext>
            </p:extLst>
          </p:nvPr>
        </p:nvGraphicFramePr>
        <p:xfrm>
          <a:off x="457200" y="1051560"/>
          <a:ext cx="8229600" cy="265176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sku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 'SKU:' prefix, deduplicate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key; 7.18% rows removed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 '$', coerce to numeric, flag issues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price_flag: ok | missing | invalid | outlier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brand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latin-ascii transliteration, extract before '?'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brand name; empty → 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color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Regex extract 'Color' from 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Standalone column; description dropped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size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 system → extract labels, US sizes, dims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new columns; NA for non-applicable 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60CDE7-F930-9916-0837-1E254AA29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181354"/>
            <a:ext cx="8178799" cy="2780791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168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Imputation Strategy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3774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Grouped median by size_system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 to outliers; respects product 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brand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as NA (not imputable)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 is scraped metadata — cannot be inferred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color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 by product 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Categorical; most common within category is safe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size_labels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as NA where non-applicable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by design for bedding/unknown 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47472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457200" y="3474720"/>
            <a:ext cx="54864" cy="82296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4"/>
          <p:cNvSpPr/>
          <p:nvPr/>
        </p:nvSpPr>
        <p:spPr>
          <a:xfrm>
            <a:off x="685800" y="35204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all size system columns present in every row. NA is preferred over omitting non-applicable columns — this preserves structure for downstream grouped imputation.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Size System Distribution</a:t>
            </a:r>
            <a:endParaRPr lang="en-US" sz="3000" dirty="0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E7A83325-A40F-B61C-1739-2AA36204D855}"/>
              </a:ext>
            </a:extLst>
          </p:cNvPr>
          <p:cNvGraphicFramePr/>
          <p:nvPr/>
        </p:nvGraphicFramePr>
        <p:xfrm>
          <a:off x="457200" y="1005840"/>
          <a:ext cx="822960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1051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shein_cleaned.csv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93192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cleaned dataset — all columns, one row per product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shein_cleaned.sav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93192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SPSS format for statistical software users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shein_cleaned.dta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93192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Stata format for econometric workflows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0080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shein_cleaned.xlsx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93192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workbook for non-technical stakeholders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4008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shein_cleaned.rds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93192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 format preserving data types and factors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008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shein_data_quality_report.docx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93192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Word report documenting all decisions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shein_exploratory_diagnostics.xlsx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93192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20-sheet diagnostics workbook (evidence base)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Went Well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1704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pipeline design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14813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00–03 each have a clear single responsibility. New stages slot in without rewriting earlier code.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0116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85800" y="20848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system classification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23957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13+ distinct size systems correctly identified and parsed into structured columns — a genuinely complex regex task.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9260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" y="29260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85800" y="2999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log accountability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85800" y="33101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column dropped or replaced is recorded with an explicit reason. Decisions are auditable.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Diagnostics-first approach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85800" y="42245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20-sheet diagnostics workbook built before cleaning began — issues were quantified, not guessed.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Was Hard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0584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0515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LFS setup for large CSV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3075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file exceeded GitHub's limit. Configuring LFS was the first-day bottleneck.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" y="158191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Would set up LFS before starting data work next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" y="201168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85800" y="20574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data.table reference semantics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231343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copy warnings, .SDcols placement, and := scoping caused repeated debugging cycles.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5800" y="258775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Now use setDT() immediately after as.data.table() and copy() before mutations.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301752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57200" y="301752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85800" y="30632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field complexity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85800" y="33192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encoding 13+ size systems required iterative regex design and repeated misclassification fixes.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85800" y="359359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Would prototype on a stratified sample first, then scale to full data.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9194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Shape 18"/>
          <p:cNvSpPr/>
          <p:nvPr/>
        </p:nvSpPr>
        <p:spPr>
          <a:xfrm>
            <a:off x="457200" y="402336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85800" y="4069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report, git pushes and cleaning sizes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85800" y="44577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these tasks were challenges, as I had to ask for guidance on several occasions for push in the right direction.</a:t>
            </a:r>
          </a:p>
          <a:p>
            <a:r>
              <a:rPr lang="en-US" sz="12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I know how to clean larger datasets, create cleaner pipelines, README and cleaning csv scraped data.</a:t>
            </a:r>
            <a:endParaRPr lang="en-US" sz="120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85800" y="4599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8422DD41-034F-7CE3-9BFD-CFAE14E7E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457200" cy="457200"/>
          </a:xfrm>
          <a:prstGeom prst="rect">
            <a:avLst/>
          </a:prstGeom>
        </p:spPr>
      </p:pic>
      <p:graphicFrame>
        <p:nvGraphicFramePr>
          <p:cNvPr id="9" name="Chart 0">
            <a:extLst>
              <a:ext uri="{FF2B5EF4-FFF2-40B4-BE49-F238E27FC236}">
                <a16:creationId xmlns:a16="http://schemas.microsoft.com/office/drawing/2014/main" id="{CE0E4BF9-A4E5-47A8-1A86-8309BE210A0E}"/>
              </a:ext>
            </a:extLst>
          </p:cNvPr>
          <p:cNvGraphicFramePr/>
          <p:nvPr/>
        </p:nvGraphicFramePr>
        <p:xfrm>
          <a:off x="457200" y="1005840"/>
          <a:ext cx="82296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2">
            <a:extLst>
              <a:ext uri="{FF2B5EF4-FFF2-40B4-BE49-F238E27FC236}">
                <a16:creationId xmlns:a16="http://schemas.microsoft.com/office/drawing/2014/main" id="{20DF1412-E17B-C483-432C-CA9F425822C5}"/>
              </a:ext>
            </a:extLst>
          </p:cNvPr>
          <p:cNvSpPr/>
          <p:nvPr/>
        </p:nvSpPr>
        <p:spPr>
          <a:xfrm>
            <a:off x="3200400" y="4389120"/>
            <a:ext cx="2743200" cy="502920"/>
          </a:xfrm>
          <a:prstGeom prst="rect">
            <a:avLst/>
          </a:prstGeom>
          <a:solidFill>
            <a:srgbClr val="21295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Y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41525D9-8ABF-DEDE-1081-0A2C96A2C6D8}"/>
              </a:ext>
            </a:extLst>
          </p:cNvPr>
          <p:cNvSpPr/>
          <p:nvPr/>
        </p:nvSpPr>
        <p:spPr>
          <a:xfrm>
            <a:off x="3200400" y="4389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Total: ~46 hours</a:t>
            </a:r>
            <a:endParaRPr lang="en-US" sz="18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322B1E12-4908-F3D3-0796-CD6AFB4462F2}"/>
              </a:ext>
            </a:extLst>
          </p:cNvPr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Breakdown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More Time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suite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353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for each cleaning function — validate regex outputs against known edge cases.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7200" y="178308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URL validation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21305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HEAD requests to verify image links are still live; flag broken URLs.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56032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" y="256032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85800" y="2606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modelling by category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85800" y="29077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size_system + color + brand to build a simple predictive model for missing prices.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347472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57200" y="347472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diagnostics dashboard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38221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app showing missingness heatmaps, size system breakdowns, and price distributions.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1097280"/>
            <a:ext cx="457200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91840" y="32004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38404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https://github.com/NMelville2000/Shein_Data_Cleaning_Assignment.git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9AF198A-8267-49DB-9330-CA7CE65E82ED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a1ce0fdb-0286-47fe-aeff-e8e8f2ad8f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512</TotalTime>
  <Words>935</Words>
  <Application>Microsoft Office PowerPoint</Application>
  <PresentationFormat>On-screen Show (16:9)</PresentationFormat>
  <Paragraphs>158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SHEIN Data Cleaning Assignment</dc:title>
  <dc:subject>PptxGenJS Presentation</dc:subject>
  <dc:creator>Adrian</dc:creator>
  <cp:lastModifiedBy>Nicky Melville</cp:lastModifiedBy>
  <cp:revision>17</cp:revision>
  <dcterms:created xsi:type="dcterms:W3CDTF">2026-05-11T01:47:50Z</dcterms:created>
  <dcterms:modified xsi:type="dcterms:W3CDTF">2026-05-18T19:06:18Z</dcterms:modified>
</cp:coreProperties>
</file>